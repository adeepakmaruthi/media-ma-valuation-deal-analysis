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26679" y="1005840"/>
            <a:ext cx="3977641" cy="0"/>
          </a:xfrm>
          <a:prstGeom prst="line">
            <a:avLst/>
          </a:prstGeom>
          <a:ln w="5715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26679" y="1920240"/>
            <a:ext cx="3977641" cy="0"/>
          </a:xfrm>
          <a:prstGeom prst="line">
            <a:avLst/>
          </a:prstGeom>
          <a:ln w="5715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26679" y="2834640"/>
            <a:ext cx="3977641" cy="0"/>
          </a:xfrm>
          <a:prstGeom prst="line">
            <a:avLst/>
          </a:prstGeom>
          <a:ln w="5715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26679" y="3749039"/>
            <a:ext cx="3977641" cy="0"/>
          </a:xfrm>
          <a:prstGeom prst="line">
            <a:avLst/>
          </a:prstGeom>
          <a:ln w="5715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26679" y="4663440"/>
            <a:ext cx="3977641" cy="0"/>
          </a:xfrm>
          <a:prstGeom prst="line">
            <a:avLst/>
          </a:prstGeom>
          <a:ln w="5715">
            <a:solidFill>
              <a:srgbClr val="26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046720" y="4297679"/>
            <a:ext cx="365760" cy="1051560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77656" y="3794759"/>
            <a:ext cx="365760" cy="1554480"/>
          </a:xfrm>
          <a:prstGeom prst="rect">
            <a:avLst/>
          </a:prstGeom>
          <a:solidFill>
            <a:srgbClr val="4FB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08592" y="3291839"/>
            <a:ext cx="365760" cy="2057400"/>
          </a:xfrm>
          <a:prstGeom prst="rect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39528" y="2743199"/>
            <a:ext cx="365760" cy="2606040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70464" y="2103120"/>
            <a:ext cx="365760" cy="324612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1143000"/>
            <a:ext cx="2286000" cy="2286000"/>
          </a:xfrm>
          <a:prstGeom prst="ellipse">
            <a:avLst/>
          </a:prstGeom>
          <a:noFill/>
          <a:ln w="25400">
            <a:solidFill>
              <a:srgbClr val="0E8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96528" y="1527048"/>
            <a:ext cx="1517904" cy="1517904"/>
          </a:xfrm>
          <a:prstGeom prst="ellipse">
            <a:avLst/>
          </a:prstGeom>
          <a:noFill/>
          <a:ln w="25400">
            <a:solidFill>
              <a:srgbClr val="D7A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9720" y="1920240"/>
            <a:ext cx="731520" cy="73152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02920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B6AE"/>
                </a:solidFill>
                <a:latin typeface="Aptos"/>
              </a:rPr>
              <a:t>M&amp;A VALUATION  /  INVESTMENT BANKING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133856"/>
            <a:ext cx="649224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M&amp;A Valuation &amp;
Deal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34640"/>
            <a:ext cx="60350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9E4EF"/>
                </a:solidFill>
                <a:latin typeface="Aptos"/>
              </a:rPr>
              <a:t>Media industry acquisition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03320"/>
            <a:ext cx="580644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7D8"/>
                </a:solidFill>
                <a:latin typeface="Aptos"/>
              </a:rPr>
              <a:t>An integrated model covering DCF, WACC, trading comparables, transaction financing, EPS impact and sensitivities.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681728"/>
            <a:ext cx="5605272" cy="0"/>
          </a:xfrm>
          <a:prstGeom prst="line">
            <a:avLst/>
          </a:prstGeom>
          <a:ln w="15240">
            <a:solidFill>
              <a:srgbClr val="344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4919472"/>
            <a:ext cx="5394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Prepared by Anumula Deepak Maruthi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03520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7D8"/>
                </a:solidFill>
                <a:latin typeface="Aptos"/>
              </a:rPr>
              <a:t>Excel financial model  •  Python validation  • 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961888"/>
            <a:ext cx="749808" cy="329184"/>
          </a:xfrm>
          <a:prstGeom prst="roundRect">
            <a:avLst/>
          </a:prstGeom>
          <a:solidFill>
            <a:srgbClr val="1B3048"/>
          </a:solidFill>
          <a:ln w="10160">
            <a:solidFill>
              <a:srgbClr val="2C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025896"/>
            <a:ext cx="7498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ptos"/>
              </a:rPr>
              <a:t>DCF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17904" y="5961888"/>
            <a:ext cx="868680" cy="329184"/>
          </a:xfrm>
          <a:prstGeom prst="roundRect">
            <a:avLst/>
          </a:prstGeom>
          <a:solidFill>
            <a:srgbClr val="1B3048"/>
          </a:solidFill>
          <a:ln w="10160">
            <a:solidFill>
              <a:srgbClr val="2C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17904" y="60258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ptos"/>
              </a:rPr>
              <a:t>WACC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96312" y="5961888"/>
            <a:ext cx="960120" cy="329184"/>
          </a:xfrm>
          <a:prstGeom prst="roundRect">
            <a:avLst/>
          </a:prstGeom>
          <a:solidFill>
            <a:srgbClr val="1B3048"/>
          </a:solidFill>
          <a:ln w="10160">
            <a:solidFill>
              <a:srgbClr val="2C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6312" y="6025896"/>
            <a:ext cx="960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ptos"/>
              </a:rPr>
              <a:t>COMPS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5961888"/>
            <a:ext cx="1554480" cy="329184"/>
          </a:xfrm>
          <a:prstGeom prst="roundRect">
            <a:avLst/>
          </a:prstGeom>
          <a:solidFill>
            <a:srgbClr val="1B3048"/>
          </a:solidFill>
          <a:ln w="10160">
            <a:solidFill>
              <a:srgbClr val="2C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6025896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ptos"/>
              </a:rPr>
              <a:t>SOURCES &amp; USES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0367" y="5961888"/>
            <a:ext cx="658368" cy="329184"/>
          </a:xfrm>
          <a:prstGeom prst="roundRect">
            <a:avLst/>
          </a:prstGeom>
          <a:solidFill>
            <a:srgbClr val="1B3048"/>
          </a:solidFill>
          <a:ln w="10160">
            <a:solidFill>
              <a:srgbClr val="2C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7" y="6025896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FFFFF"/>
                </a:solidFill>
                <a:latin typeface="Aptos"/>
              </a:rPr>
              <a:t>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6144768"/>
            <a:ext cx="3886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D7E3EF"/>
                </a:solidFill>
                <a:latin typeface="Aptos"/>
              </a:rPr>
              <a:t>HYPOTHETICAL MODEL — NOT THE REAL TRANSACTION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01 / 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The base case shows value, but remains assumption-sensitive.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Corrected workbook outputs; every model assumption is hypothetical.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02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54480"/>
            <a:ext cx="2697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554480"/>
            <a:ext cx="64008" cy="1234440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664207"/>
            <a:ext cx="2331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DCF ENTERPRISE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1911095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628"/>
                </a:solidFill>
                <a:latin typeface="Aptos"/>
              </a:rPr>
              <a:t>$80.45bn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496312"/>
            <a:ext cx="23317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PV of forecast cash flows + terminal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554480"/>
            <a:ext cx="2697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554480"/>
            <a:ext cx="64008" cy="1234440"/>
          </a:xfrm>
          <a:prstGeom prst="rect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664207"/>
            <a:ext cx="2331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WACC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11095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628"/>
                </a:solidFill>
                <a:latin typeface="Aptos"/>
              </a:rPr>
              <a:t>9.11%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96312"/>
            <a:ext cx="23317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CAPM cost of equity + after-tax debt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554480"/>
            <a:ext cx="2697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554480"/>
            <a:ext cx="64008" cy="1234440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64207"/>
            <a:ext cx="2331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COMPS CROSS-CHECK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11095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628"/>
                </a:solidFill>
                <a:latin typeface="Aptos"/>
              </a:rPr>
              <a:t>$64.8bn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3317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8.0x illustrative median EV / EBITDA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554480"/>
            <a:ext cx="2606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4272" y="1554480"/>
            <a:ext cx="64008" cy="123444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664207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TOTAL TRANSACTION 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911095"/>
            <a:ext cx="2240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628"/>
                </a:solidFill>
                <a:latin typeface="Aptos"/>
              </a:rPr>
              <a:t>$16.436bn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96312"/>
            <a:ext cx="22402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Sources match uses; check = $0.000bn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3054096"/>
            <a:ext cx="5504688" cy="260604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3273552"/>
            <a:ext cx="4983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VALUATION READ-THROUGH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3776472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3685032"/>
            <a:ext cx="47823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033"/>
                </a:solidFill>
                <a:latin typeface="Aptos"/>
              </a:rPr>
              <a:t>DCF is 24.1% above the illustrative comps EV.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4325112"/>
            <a:ext cx="82296" cy="82296"/>
          </a:xfrm>
          <a:prstGeom prst="ellipse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233672"/>
            <a:ext cx="47823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033"/>
                </a:solidFill>
                <a:latin typeface="Aptos"/>
              </a:rPr>
              <a:t>Terminal value accounts for 73.4% of DCF enterprise value.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4873752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782312"/>
            <a:ext cx="478231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033"/>
                </a:solidFill>
                <a:latin typeface="Aptos"/>
              </a:rPr>
              <a:t>DCF equity value is $23.4bn after $57.0bn of combined pre-deal net debt.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3054096"/>
            <a:ext cx="5404104" cy="2606040"/>
          </a:xfrm>
          <a:prstGeom prst="roundRect">
            <a:avLst/>
          </a:prstGeom>
          <a:solidFill>
            <a:srgbClr val="FFF8F0"/>
          </a:solidFill>
          <a:ln w="10160">
            <a:solidFill>
              <a:srgbClr val="F2E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273552"/>
            <a:ext cx="48646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DEAL &amp; EPS SIGNALS</a:t>
            </a:r>
          </a:p>
        </p:txBody>
      </p:sp>
      <p:sp>
        <p:nvSpPr>
          <p:cNvPr id="39" name="Oval 38"/>
          <p:cNvSpPr/>
          <p:nvPr/>
        </p:nvSpPr>
        <p:spPr>
          <a:xfrm>
            <a:off x="6510528" y="3776472"/>
            <a:ext cx="82296" cy="82296"/>
          </a:xfrm>
          <a:prstGeom prst="ellipse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84264" y="3685032"/>
            <a:ext cx="46268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72033"/>
                </a:solidFill>
                <a:latin typeface="Aptos"/>
              </a:rPr>
              <a:t>Year 1 EPS change: -2.20 per share; percentage accretion is not meaningful.</a:t>
            </a:r>
          </a:p>
        </p:txBody>
      </p:sp>
      <p:sp>
        <p:nvSpPr>
          <p:cNvPr id="41" name="Oval 40"/>
          <p:cNvSpPr/>
          <p:nvPr/>
        </p:nvSpPr>
        <p:spPr>
          <a:xfrm>
            <a:off x="6510528" y="4389120"/>
            <a:ext cx="82296" cy="82296"/>
          </a:xfrm>
          <a:prstGeom prst="ellipse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84264" y="4297680"/>
            <a:ext cx="462686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72033"/>
                </a:solidFill>
                <a:latin typeface="Aptos"/>
              </a:rPr>
              <a:t>Comps-implied target equity is only $2.0bn against $42.0bn target net debt.</a:t>
            </a:r>
          </a:p>
        </p:txBody>
      </p:sp>
      <p:sp>
        <p:nvSpPr>
          <p:cNvPr id="43" name="Oval 42"/>
          <p:cNvSpPr/>
          <p:nvPr/>
        </p:nvSpPr>
        <p:spPr>
          <a:xfrm>
            <a:off x="6510528" y="5056631"/>
            <a:ext cx="82296" cy="82296"/>
          </a:xfrm>
          <a:prstGeom prst="ellipse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84264" y="4965192"/>
            <a:ext cx="4626864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72033"/>
                </a:solidFill>
                <a:latin typeface="Aptos"/>
              </a:rPr>
              <a:t>Treat price, debt funding, synergies and terminal assumptions as diligence priorities.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corrected workbook tabs DCF, Comps, Transaction and Accretion-Dilution. All model figures are fictional educational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02 / PUBLIC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A real transaction provides context — not the model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Paramount Skydance completed the WBD acquisition on 6 October 2026; the workbook remains a separate hypothetical case.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03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36192"/>
            <a:ext cx="267004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536192"/>
            <a:ext cx="64008" cy="1207008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645919"/>
            <a:ext cx="23042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CASH CONSIDERATION /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1892807"/>
            <a:ext cx="230428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628"/>
                </a:solidFill>
                <a:latin typeface="Aptos"/>
              </a:rPr>
              <a:t>$31.0167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450592"/>
            <a:ext cx="230428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Per WBD share at closing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536192"/>
            <a:ext cx="267004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536192"/>
            <a:ext cx="64008" cy="1207008"/>
          </a:xfrm>
          <a:prstGeom prst="rect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1645919"/>
            <a:ext cx="23042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ANNOUNCED ENTERPRISE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1892807"/>
            <a:ext cx="230428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628"/>
                </a:solidFill>
                <a:latin typeface="Aptos"/>
              </a:rPr>
              <a:t>$110bn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450592"/>
            <a:ext cx="230428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Signing announcement metric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536192"/>
            <a:ext cx="267004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9904" y="1536192"/>
            <a:ext cx="64008" cy="1207008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645919"/>
            <a:ext cx="23042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ANNOUNCED EQUITY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892807"/>
            <a:ext cx="230428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628"/>
                </a:solidFill>
                <a:latin typeface="Aptos"/>
              </a:rPr>
              <a:t>~$81bn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450592"/>
            <a:ext cx="230428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Signing announcement metric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536192"/>
            <a:ext cx="277063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1536192"/>
            <a:ext cx="64008" cy="1207008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8" y="1645919"/>
            <a:ext cx="24048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RUN-RATE SYNERGY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1892807"/>
            <a:ext cx="240487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628"/>
                </a:solidFill>
                <a:latin typeface="Aptos"/>
              </a:rPr>
              <a:t>≥ $6bn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2450592"/>
            <a:ext cx="240487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Management target within 3 years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3017520"/>
            <a:ext cx="5504688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246120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STRATEGIC ASSET COMBINATION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3730752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3639312"/>
            <a:ext cx="4718303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Two major film studios and deep content libraries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4133087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041648"/>
            <a:ext cx="4718303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Two global streaming services and premium TV assets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4535424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443984"/>
            <a:ext cx="4718303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CBS, HBO, cable networks, CBS News, CNN and sports</a:t>
            </a:r>
          </a:p>
        </p:txBody>
      </p:sp>
      <p:sp>
        <p:nvSpPr>
          <p:cNvPr id="37" name="Oval 36"/>
          <p:cNvSpPr/>
          <p:nvPr/>
        </p:nvSpPr>
        <p:spPr>
          <a:xfrm>
            <a:off x="804672" y="4937759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4846320"/>
            <a:ext cx="4718303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Management targets &gt;$10bn FCF by 2030 and 3.0x net leverage by end-2029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3017520"/>
            <a:ext cx="5404104" cy="2423160"/>
          </a:xfrm>
          <a:prstGeom prst="roundRect">
            <a:avLst/>
          </a:prstGeom>
          <a:solidFill>
            <a:srgbClr val="FAF1E1"/>
          </a:solidFill>
          <a:ln w="10160">
            <a:solidFill>
              <a:srgbClr val="F0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24612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IMPORTANT MODEL SEPARATION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3648456"/>
            <a:ext cx="475488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172033"/>
                </a:solidFill>
                <a:latin typeface="Aptos"/>
              </a:rPr>
              <a:t>The workbook uses fictional companies, historicals, debt, peer multiples and transaction financing. Its $80.4bn DCF EV and $44.4bn illustrative transaction EV are not estimates of the actual Paramount–WBD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4956048"/>
            <a:ext cx="470001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85555"/>
                </a:solidFill>
                <a:latin typeface="Aptos"/>
              </a:rPr>
              <a:t>Use public facts as context only; do not mix them into model outputs.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272784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Sources: Paramount closing release (6 Oct 2026); Paramount acquisition announcement (27 Feb 2026); UK CMA merger inquiry. Links are listed on final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03 / MODEL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The valuation is driven by explicit, editable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Valuation date in workbook: illustrative 31 December 2025. USD billions unless noted.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04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72768"/>
            <a:ext cx="170078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82495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REVENUE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142646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628"/>
                </a:solidFill>
                <a:latin typeface="Aptos"/>
              </a:rPr>
              <a:t>2.0% → 3.0%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04288"/>
            <a:ext cx="14264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6B7A"/>
                </a:solidFill>
                <a:latin typeface="Aptos"/>
              </a:rPr>
              <a:t>2% in 2026, rising to 3% thereafter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572768"/>
            <a:ext cx="170078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682495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EBITDA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938528"/>
            <a:ext cx="142646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B1628"/>
                </a:solidFill>
                <a:latin typeface="Aptos"/>
              </a:rPr>
              <a:t>12.5% → 14.5%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304288"/>
            <a:ext cx="14264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6B7A"/>
                </a:solidFill>
                <a:latin typeface="Aptos"/>
              </a:rPr>
              <a:t>+0.5 percentage points each 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1572768"/>
            <a:ext cx="170078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682495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D&amp;A /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1938528"/>
            <a:ext cx="142646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628"/>
                </a:solidFill>
                <a:latin typeface="Aptos"/>
              </a:rPr>
              <a:t>7.0%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304288"/>
            <a:ext cx="14264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6B7A"/>
                </a:solidFill>
                <a:latin typeface="Aptos"/>
              </a:rPr>
              <a:t>Includes simplified content amortization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2926080"/>
            <a:ext cx="170078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035808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CAPEX /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291840"/>
            <a:ext cx="142646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628"/>
                </a:solidFill>
                <a:latin typeface="Aptos"/>
              </a:rPr>
              <a:t>4.0%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657600"/>
            <a:ext cx="14264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6B7A"/>
                </a:solidFill>
                <a:latin typeface="Aptos"/>
              </a:rPr>
              <a:t>Content cash spend not separately modelled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2926080"/>
            <a:ext cx="170078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035808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CASH TAX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291840"/>
            <a:ext cx="142646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628"/>
                </a:solidFill>
                <a:latin typeface="Aptos"/>
              </a:rPr>
              <a:t>25.0%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657600"/>
            <a:ext cx="14264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6B7A"/>
                </a:solidFill>
                <a:latin typeface="Aptos"/>
              </a:rPr>
              <a:t>Simplified operating tax assumption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24528" y="2926080"/>
            <a:ext cx="1700784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3035808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TERMINAL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3291840"/>
            <a:ext cx="142646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628"/>
                </a:solidFill>
                <a:latin typeface="Aptos"/>
              </a:rPr>
              <a:t>2.5%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657600"/>
            <a:ext cx="14264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F6B7A"/>
                </a:solidFill>
                <a:latin typeface="Aptos"/>
              </a:rPr>
              <a:t>Must remain below WACC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1572768"/>
            <a:ext cx="5276088" cy="212140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1792224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VALUATION FRAMEWORK</a:t>
            </a:r>
          </a:p>
        </p:txBody>
      </p:sp>
      <p:sp>
        <p:nvSpPr>
          <p:cNvPr id="35" name="Oval 34"/>
          <p:cNvSpPr/>
          <p:nvPr/>
        </p:nvSpPr>
        <p:spPr>
          <a:xfrm>
            <a:off x="6620256" y="2276856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93992" y="2185416"/>
            <a:ext cx="44714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Unlevered DCF, forecast 2026–2030</a:t>
            </a:r>
          </a:p>
        </p:txBody>
      </p:sp>
      <p:sp>
        <p:nvSpPr>
          <p:cNvPr id="37" name="Oval 36"/>
          <p:cNvSpPr/>
          <p:nvPr/>
        </p:nvSpPr>
        <p:spPr>
          <a:xfrm>
            <a:off x="6620256" y="2606040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93992" y="2514600"/>
            <a:ext cx="44714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Terminal value using a 2.5% perpetual growth rate</a:t>
            </a:r>
          </a:p>
        </p:txBody>
      </p:sp>
      <p:sp>
        <p:nvSpPr>
          <p:cNvPr id="39" name="Oval 38"/>
          <p:cNvSpPr/>
          <p:nvPr/>
        </p:nvSpPr>
        <p:spPr>
          <a:xfrm>
            <a:off x="6620256" y="2935224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93992" y="2843784"/>
            <a:ext cx="44714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Illustrative peer median of 8.0x EV / EBITDA</a:t>
            </a:r>
          </a:p>
        </p:txBody>
      </p:sp>
      <p:sp>
        <p:nvSpPr>
          <p:cNvPr id="41" name="Oval 40"/>
          <p:cNvSpPr/>
          <p:nvPr/>
        </p:nvSpPr>
        <p:spPr>
          <a:xfrm>
            <a:off x="6620256" y="3264408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3992" y="3172968"/>
            <a:ext cx="44714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Transaction financing and simplified EPS bridge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904487"/>
            <a:ext cx="5276088" cy="1700784"/>
          </a:xfrm>
          <a:prstGeom prst="roundRect">
            <a:avLst/>
          </a:prstGeom>
          <a:solidFill>
            <a:srgbClr val="FFF8F0"/>
          </a:solidFill>
          <a:ln w="10160">
            <a:solidFill>
              <a:srgbClr val="F2E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411480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KNOWN LIMITATIONS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4489704"/>
            <a:ext cx="4636008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72033"/>
                </a:solidFill>
                <a:latin typeface="Aptos"/>
              </a:rPr>
              <a:t>Inputs are not actual filings or market data. Model simplifies content spending, working capital, purchase accounting, tax attributes, debt schedules and integration. Peer set is fictional. Use as a learning portfolio—not investment advice.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Assumptions and Start Here worksheets. Assumptions are clearly labelled as fictional placeholders in the workbook.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04 / HISTORICAL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The fictional combined business shows declining revenue and EBITDA.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Historical inputs are invented for the educational case and are not Paramount / WBD reported results.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05 / 13</a:t>
            </a:r>
          </a:p>
        </p:txBody>
      </p:sp>
      <p:pic>
        <p:nvPicPr>
          <p:cNvPr id="9" name="Picture 8" descr="histo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6583680" cy="33649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600200"/>
            <a:ext cx="193852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64008" cy="105156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1709928"/>
            <a:ext cx="15727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2025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1956816"/>
            <a:ext cx="157276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628"/>
                </a:solidFill>
                <a:latin typeface="Aptos"/>
              </a:rPr>
              <a:t>$66.0bn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359152"/>
            <a:ext cx="157276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2023: $71bn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600200"/>
            <a:ext cx="212140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1600200"/>
            <a:ext cx="64008" cy="1051560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0928" y="1709928"/>
            <a:ext cx="17556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2025 EBITDA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1956816"/>
            <a:ext cx="175564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628"/>
                </a:solidFill>
                <a:latin typeface="Aptos"/>
              </a:rPr>
              <a:t>$8.1bn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359152"/>
            <a:ext cx="175564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2023: $10.0bn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862072"/>
            <a:ext cx="4224528" cy="188366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3072384"/>
            <a:ext cx="3767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628"/>
                </a:solidFill>
                <a:latin typeface="Aptos"/>
              </a:rPr>
              <a:t>WHAT THE HISTORY SIGNALS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3557016"/>
            <a:ext cx="82296" cy="82296"/>
          </a:xfrm>
          <a:prstGeom prst="ellipse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3465576"/>
            <a:ext cx="3575303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Revenue declines from $71bn to $66bn (2023–2025).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4087368"/>
            <a:ext cx="82296" cy="82296"/>
          </a:xfrm>
          <a:prstGeom prst="ellipse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8975" y="3995928"/>
            <a:ext cx="3575303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EBITDA margin falls from 14.1% to 12.3%.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5084064"/>
            <a:ext cx="11100816" cy="795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257800"/>
            <a:ext cx="25146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2023 COMBINED 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458968"/>
            <a:ext cx="251460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628"/>
                </a:solidFill>
                <a:latin typeface="Aptos"/>
              </a:rPr>
              <a:t>$1.0bn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5257800"/>
            <a:ext cx="25146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2024 COMBINED 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5458968"/>
            <a:ext cx="251460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628"/>
                </a:solidFill>
                <a:latin typeface="Aptos"/>
              </a:rPr>
              <a:t>-$0.35bn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5257800"/>
            <a:ext cx="25146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2025 COMBINED 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2" y="5458968"/>
            <a:ext cx="251460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628"/>
                </a:solidFill>
                <a:latin typeface="Aptos"/>
              </a:rPr>
              <a:t>-$1.4bn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Historical worksheet; combined values calculated by adding the two fictional standalone businesses. Figures in USD billions.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05 /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Revenue grows modestly as EBITDA margins gradually recover.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Base operating FCFF excludes deal synergies and one-time integration costs.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06 / 13</a:t>
            </a:r>
          </a:p>
        </p:txBody>
      </p:sp>
      <p:pic>
        <p:nvPicPr>
          <p:cNvPr id="9" name="Picture 8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629400" cy="3429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60920" y="1581912"/>
            <a:ext cx="4270248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764792"/>
            <a:ext cx="37490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5F6B7A"/>
                </a:solidFill>
                <a:latin typeface="Aptos"/>
              </a:rPr>
              <a:t>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05740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628"/>
                </a:solidFill>
                <a:latin typeface="Aptos"/>
              </a:rPr>
              <a:t>12.5%  →  14.5%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44144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5F6B7A"/>
                </a:solidFill>
                <a:latin typeface="Aptos"/>
              </a:rPr>
              <a:t>2026 to 2030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880360"/>
            <a:ext cx="4270248" cy="194767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081528"/>
            <a:ext cx="3776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628"/>
                </a:solidFill>
                <a:latin typeface="Aptos"/>
              </a:rPr>
              <a:t>YEAR 1 SYNERGY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447288"/>
            <a:ext cx="2331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72033"/>
                </a:solidFill>
                <a:latin typeface="Aptos"/>
              </a:rPr>
              <a:t>Gross synergies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3447288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8A86"/>
                </a:solidFill>
                <a:latin typeface="Aptos"/>
              </a:rPr>
              <a:t>+0.525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3749039"/>
            <a:ext cx="2331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72033"/>
                </a:solidFill>
                <a:latin typeface="Aptos"/>
              </a:rPr>
              <a:t>Dis-synergies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749039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55"/>
                </a:solidFill>
                <a:latin typeface="Aptos"/>
              </a:rPr>
              <a:t>-0.250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4050791"/>
            <a:ext cx="2331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72033"/>
                </a:solidFill>
                <a:latin typeface="Aptos"/>
              </a:rPr>
              <a:t>Integration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4050791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55"/>
                </a:solidFill>
                <a:latin typeface="Aptos"/>
              </a:rPr>
              <a:t>-1.000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4352544"/>
            <a:ext cx="2331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172033"/>
                </a:solidFill>
                <a:latin typeface="Aptos"/>
              </a:rPr>
              <a:t>Net pre-tax benefit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4352544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628"/>
                </a:solidFill>
                <a:latin typeface="Aptos"/>
              </a:rPr>
              <a:t>-0.725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166360"/>
            <a:ext cx="11100816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276088"/>
            <a:ext cx="24688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5F6B7A"/>
                </a:solidFill>
                <a:latin typeface="Aptos"/>
              </a:rPr>
              <a:t>2030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477256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628"/>
                </a:solidFill>
                <a:latin typeface="Aptos"/>
              </a:rPr>
              <a:t>$75.4bn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5276088"/>
            <a:ext cx="24688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5F6B7A"/>
                </a:solidFill>
                <a:latin typeface="Aptos"/>
              </a:rPr>
              <a:t>2030 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5477256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628"/>
                </a:solidFill>
                <a:latin typeface="Aptos"/>
              </a:rPr>
              <a:t>$10.93bn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5276088"/>
            <a:ext cx="24688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5F6B7A"/>
                </a:solidFill>
                <a:latin typeface="Aptos"/>
              </a:rPr>
              <a:t>2030 FCFF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5477256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628"/>
                </a:solidFill>
                <a:latin typeface="Aptos"/>
              </a:rPr>
              <a:t>$6.46bn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5276088"/>
            <a:ext cx="24688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5F6B7A"/>
                </a:solidFill>
                <a:latin typeface="Aptos"/>
              </a:rPr>
              <a:t>RUN-RATE SYNERGIES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5477256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628"/>
                </a:solidFill>
                <a:latin typeface="Aptos"/>
              </a:rPr>
              <a:t>$1.5bn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Projections and Assumptions worksheets. Synergy, dis-synergy and integration inputs are illustrative, not actual company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06 / DCF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DCF enterprise value is $80.45bn under the base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Unlevered DCF; terminal value uses normalized terminal FCFF and a 2.5% perpetual growth rate.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07 / 13</a:t>
            </a:r>
          </a:p>
        </p:txBody>
      </p:sp>
      <p:pic>
        <p:nvPicPr>
          <p:cNvPr id="9" name="Picture 8" descr="dcf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54480"/>
            <a:ext cx="5486400" cy="3291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91072" y="1572768"/>
            <a:ext cx="5349240" cy="3346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801368"/>
            <a:ext cx="4773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VALUATION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194560"/>
            <a:ext cx="3063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PV of forecast FCFF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928" y="2194560"/>
            <a:ext cx="1463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E8A86"/>
                </a:solidFill>
                <a:latin typeface="Aptos"/>
              </a:rPr>
              <a:t>21.37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957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F6B7A"/>
                </a:solidFill>
                <a:latin typeface="Aptos"/>
              </a:rPr>
              <a:t>2026–2030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65392" y="2633472"/>
            <a:ext cx="4736592" cy="0"/>
          </a:xfrm>
          <a:prstGeom prst="line">
            <a:avLst/>
          </a:prstGeom>
          <a:ln w="6985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65392" y="2688336"/>
            <a:ext cx="3063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PV of terminal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688336"/>
            <a:ext cx="1463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D7A95B"/>
                </a:solidFill>
                <a:latin typeface="Aptos"/>
              </a:rPr>
              <a:t>59.07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889504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F6B7A"/>
                </a:solidFill>
                <a:latin typeface="Aptos"/>
              </a:rPr>
              <a:t>73.4% of EV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65392" y="3127248"/>
            <a:ext cx="4736592" cy="0"/>
          </a:xfrm>
          <a:prstGeom prst="line">
            <a:avLst/>
          </a:prstGeom>
          <a:ln w="6985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65392" y="3182112"/>
            <a:ext cx="3063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033"/>
                </a:solidFill>
                <a:latin typeface="Aptos"/>
              </a:rPr>
              <a:t>DCF enterprise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3182112"/>
            <a:ext cx="1463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B1628"/>
                </a:solidFill>
                <a:latin typeface="Aptos"/>
              </a:rPr>
              <a:t>80.45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83280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F6B7A"/>
                </a:solidFill>
                <a:latin typeface="Aptos"/>
              </a:rPr>
              <a:t>Before acquisition financing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65392" y="3621024"/>
            <a:ext cx="4736592" cy="0"/>
          </a:xfrm>
          <a:prstGeom prst="line">
            <a:avLst/>
          </a:prstGeom>
          <a:ln w="6985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65392" y="3675887"/>
            <a:ext cx="3063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033"/>
                </a:solidFill>
                <a:latin typeface="Aptos"/>
              </a:rPr>
              <a:t>Less: combined pre-deal net debt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3675887"/>
            <a:ext cx="1463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C85555"/>
                </a:solidFill>
                <a:latin typeface="Aptos"/>
              </a:rPr>
              <a:t>-57.00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877055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F6B7A"/>
                </a:solidFill>
                <a:latin typeface="Aptos"/>
              </a:rPr>
              <a:t>2025A fictional inputs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65392" y="4114800"/>
            <a:ext cx="4736592" cy="0"/>
          </a:xfrm>
          <a:prstGeom prst="line">
            <a:avLst/>
          </a:prstGeom>
          <a:ln w="6985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65392" y="4169664"/>
            <a:ext cx="3063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033"/>
                </a:solidFill>
                <a:latin typeface="Aptos"/>
              </a:rPr>
              <a:t>DCF equity value (simplified)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4169664"/>
            <a:ext cx="1463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E8A86"/>
                </a:solidFill>
                <a:latin typeface="Aptos"/>
              </a:rPr>
              <a:t>23.45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370832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F6B7A"/>
                </a:solidFill>
                <a:latin typeface="Aptos"/>
              </a:rPr>
              <a:t>Enterprise value less net debt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5193792"/>
            <a:ext cx="11100816" cy="603504"/>
          </a:xfrm>
          <a:prstGeom prst="roundRect">
            <a:avLst/>
          </a:prstGeom>
          <a:solidFill>
            <a:srgbClr val="FAF1E1"/>
          </a:solidFill>
          <a:ln w="10160">
            <a:solidFill>
              <a:srgbClr val="F0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5349240"/>
            <a:ext cx="10652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0B1628"/>
                </a:solidFill>
                <a:latin typeface="Aptos"/>
              </a:rPr>
              <a:t>DCF EV / 2025A combined EBITDA = 9.93x  |  Implied terminal EV / 2030 EBITDA = 8.36x  |  Model EV is 24.1% above comps cross-check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DCF worksheet. DCF excludes synergies and integration costs; terminal value is a large driver of the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07 / DISCOUNT RATE &amp; TERMINAL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A 9.11% WACC is built from explicit cost-of-capital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These rates are illustrative placeholders—not valuation-date market observations.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08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81912"/>
            <a:ext cx="5120640" cy="3611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10512"/>
            <a:ext cx="45354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628"/>
                </a:solidFill>
                <a:latin typeface="Aptos"/>
              </a:rPr>
              <a:t>COST OF EQUITY (CAPM)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185416"/>
            <a:ext cx="4480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628"/>
                </a:solidFill>
                <a:latin typeface="Aptos"/>
              </a:rPr>
              <a:t>4.20% + 1.15 × 5.50% = 10.525%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578608"/>
            <a:ext cx="4480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6B7A"/>
                </a:solidFill>
                <a:latin typeface="Aptos"/>
              </a:rPr>
              <a:t>Risk-free rate + beta × equity risk premium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" y="2953512"/>
            <a:ext cx="4544568" cy="0"/>
          </a:xfrm>
          <a:prstGeom prst="line">
            <a:avLst/>
          </a:prstGeom>
          <a:ln w="1143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172968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628"/>
                </a:solidFill>
                <a:latin typeface="Aptos"/>
              </a:rPr>
              <a:t>WACC 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538728"/>
            <a:ext cx="4480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033"/>
                </a:solidFill>
                <a:latin typeface="Aptos"/>
              </a:rPr>
              <a:t>75% × 10.525%  +  25% × 6.50% × (1 − 25%)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215384"/>
            <a:ext cx="448056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E8A86"/>
                </a:solidFill>
                <a:latin typeface="Aptos"/>
              </a:rPr>
              <a:t>WACC = 9.1125%  |  After-tax debt cost = 4.875%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5312" y="1581912"/>
            <a:ext cx="5705856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10512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628"/>
                </a:solidFill>
                <a:latin typeface="Aptos"/>
              </a:rPr>
              <a:t>TERMINAL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240280"/>
            <a:ext cx="5029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$91.36bn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97480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F6B7A"/>
                </a:solidFill>
                <a:latin typeface="Aptos"/>
              </a:rPr>
              <a:t>PV of terminal value = $59.07bn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36208" y="3090672"/>
            <a:ext cx="5029200" cy="0"/>
          </a:xfrm>
          <a:prstGeom prst="line">
            <a:avLst/>
          </a:prstGeom>
          <a:ln w="1143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54496" y="3310128"/>
            <a:ext cx="4754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033"/>
                </a:solidFill>
                <a:latin typeface="Aptos"/>
              </a:rPr>
              <a:t>Terminal FCFF (normalized, grown): $6.041bn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3703320"/>
            <a:ext cx="47548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033"/>
                </a:solidFill>
                <a:latin typeface="Aptos"/>
              </a:rPr>
              <a:t>Perpetual growth: 2.50%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041648"/>
            <a:ext cx="47548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2033"/>
                </a:solidFill>
                <a:latin typeface="Aptos"/>
              </a:rPr>
              <a:t>Terminal value / DCF EV: 73.4%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4398264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F6B7A"/>
                </a:solidFill>
                <a:latin typeface="Aptos"/>
              </a:rPr>
              <a:t>TV = normalized terminal-year FCFF × (1 + g) / (WACC − 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5404104"/>
            <a:ext cx="11100816" cy="438912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F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513832"/>
            <a:ext cx="10607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55"/>
                </a:solidFill>
                <a:latin typeface="Aptos"/>
              </a:rPr>
              <a:t>Sensitivity warning: 73.4% of DCF EV comes from terminal value; small changes to WACC / g materially move the valuation.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Assumptions and DCF worksheets; cash-flow and terminal-value methodology as implemented in the workbook.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08 / TRADING COMPARABLES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The fictional peer median is 8.0x EV / EBITDA.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Comparables are an illustrative cross-check only; peers and multiples are not real market data.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09 / 13</a:t>
            </a:r>
          </a:p>
        </p:txBody>
      </p:sp>
      <p:pic>
        <p:nvPicPr>
          <p:cNvPr id="9" name="Picture 8" descr="co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17904"/>
            <a:ext cx="6080760" cy="33284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609344"/>
            <a:ext cx="4718304" cy="3182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0608" y="1828800"/>
            <a:ext cx="41879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B1628"/>
                </a:solidFill>
                <a:latin typeface="Aptos"/>
              </a:rPr>
              <a:t>IMPLIED 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12848"/>
            <a:ext cx="27432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033"/>
                </a:solidFill>
                <a:latin typeface="Aptos"/>
              </a:rPr>
              <a:t>Median EV / EBITDA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7232" y="2212848"/>
            <a:ext cx="14447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E8A86"/>
                </a:solidFill>
                <a:latin typeface="Aptos"/>
              </a:rPr>
              <a:t>8.0x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50608" y="2505456"/>
            <a:ext cx="4151376" cy="0"/>
          </a:xfrm>
          <a:prstGeom prst="line">
            <a:avLst/>
          </a:prstGeom>
          <a:ln w="635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59752" y="2606040"/>
            <a:ext cx="27432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033"/>
                </a:solidFill>
                <a:latin typeface="Aptos"/>
              </a:rPr>
              <a:t>Target 2025A EBITDA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2606040"/>
            <a:ext cx="14447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B1628"/>
                </a:solidFill>
                <a:latin typeface="Aptos"/>
              </a:rPr>
              <a:t>$5.5bn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50608" y="2898648"/>
            <a:ext cx="4151376" cy="0"/>
          </a:xfrm>
          <a:prstGeom prst="line">
            <a:avLst/>
          </a:prstGeom>
          <a:ln w="635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59752" y="2999232"/>
            <a:ext cx="27432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033"/>
                </a:solidFill>
                <a:latin typeface="Aptos"/>
              </a:rPr>
              <a:t>Target implied 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999232"/>
            <a:ext cx="14447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B1628"/>
                </a:solidFill>
                <a:latin typeface="Aptos"/>
              </a:rPr>
              <a:t>$44.0bn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50608" y="3291839"/>
            <a:ext cx="4151376" cy="0"/>
          </a:xfrm>
          <a:prstGeom prst="line">
            <a:avLst/>
          </a:prstGeom>
          <a:ln w="635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59752" y="3392424"/>
            <a:ext cx="27432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2033"/>
                </a:solidFill>
                <a:latin typeface="Aptos"/>
              </a:rPr>
              <a:t>Less target net debt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3392424"/>
            <a:ext cx="14447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C85555"/>
                </a:solidFill>
                <a:latin typeface="Aptos"/>
              </a:rPr>
              <a:t>-$42.0bn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50608" y="3685032"/>
            <a:ext cx="4151376" cy="0"/>
          </a:xfrm>
          <a:prstGeom prst="line">
            <a:avLst/>
          </a:prstGeom>
          <a:ln w="635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59752" y="3785615"/>
            <a:ext cx="27432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2033"/>
                </a:solidFill>
                <a:latin typeface="Aptos"/>
              </a:rPr>
              <a:t>Implied target equity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3785615"/>
            <a:ext cx="14447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D7A95B"/>
                </a:solidFill>
                <a:latin typeface="Aptos"/>
              </a:rPr>
              <a:t>$2.0bn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50608" y="4078224"/>
            <a:ext cx="4151376" cy="0"/>
          </a:xfrm>
          <a:prstGeom prst="line">
            <a:avLst/>
          </a:prstGeom>
          <a:ln w="635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59752" y="4178808"/>
            <a:ext cx="274320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2033"/>
                </a:solidFill>
                <a:latin typeface="Aptos"/>
              </a:rPr>
              <a:t>Combined EV at median multiple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4178808"/>
            <a:ext cx="1444752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E8A86"/>
                </a:solidFill>
                <a:latin typeface="Aptos"/>
              </a:rPr>
              <a:t>$64.8bn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5084064"/>
            <a:ext cx="11100816" cy="758952"/>
          </a:xfrm>
          <a:prstGeom prst="roundRect">
            <a:avLst/>
          </a:prstGeom>
          <a:solidFill>
            <a:srgbClr val="FAF1E1"/>
          </a:solidFill>
          <a:ln w="10160">
            <a:solidFill>
              <a:srgbClr val="F0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5230368"/>
            <a:ext cx="10625328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628"/>
                </a:solidFill>
                <a:latin typeface="Aptos"/>
              </a:rPr>
              <a:t>Critical caveat: the target’s $2.0bn equity value is a thin residual after $42bn of net debt. At 7.0x, implied equity turns negative (−$3.5bn); a small multiple move changes the equity story dramatically.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Comps worksheet. Fictional peer multiples: 7.0x, 8.0x, 9.0x, 7.5x and 8.5x; median 8.0x.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09 / TRANSACTION FINANCING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The illustrative sources-and-uses schedule balances at $16.436bn.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The structure is a simplified hypothetical acquisition funding case—not the actual Paramount–WBD financing.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10 / 13</a:t>
            </a:r>
          </a:p>
        </p:txBody>
      </p:sp>
      <p:pic>
        <p:nvPicPr>
          <p:cNvPr id="9" name="Picture 8" descr="sources_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6192"/>
            <a:ext cx="5760720" cy="2834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36792" y="1572768"/>
            <a:ext cx="5303520" cy="3438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92224"/>
            <a:ext cx="47731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B1628"/>
                </a:solidFill>
                <a:latin typeface="Aptos"/>
              </a:rPr>
              <a:t>SOURCES &amp; USES ($bn)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39696"/>
            <a:ext cx="2240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139696"/>
            <a:ext cx="21031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1645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72033"/>
                </a:solidFill>
                <a:latin typeface="Aptos"/>
              </a:rPr>
              <a:t>Equity purchase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450592"/>
            <a:ext cx="6309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1628"/>
                </a:solidFill>
                <a:latin typeface="Aptos"/>
              </a:rPr>
              <a:t>2.4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450592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72033"/>
                </a:solidFill>
                <a:latin typeface="Aptos"/>
              </a:rPr>
              <a:t>Acquisition debt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2450592"/>
            <a:ext cx="7498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1628"/>
                </a:solidFill>
                <a:latin typeface="Aptos"/>
              </a:rPr>
              <a:t>9.0398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889504"/>
            <a:ext cx="1645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72033"/>
                </a:solidFill>
                <a:latin typeface="Aptos"/>
              </a:rPr>
              <a:t>Debt refinancing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889504"/>
            <a:ext cx="6309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1628"/>
                </a:solidFill>
                <a:latin typeface="Apto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889504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72033"/>
                </a:solidFill>
                <a:latin typeface="Aptos"/>
              </a:rPr>
              <a:t>Stock consideration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889504"/>
            <a:ext cx="7498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1628"/>
                </a:solidFill>
                <a:latin typeface="Aptos"/>
              </a:rPr>
              <a:t>0.6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328416"/>
            <a:ext cx="1645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72033"/>
                </a:solidFill>
                <a:latin typeface="Aptos"/>
              </a:rPr>
              <a:t>Transaction 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328416"/>
            <a:ext cx="6309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1628"/>
                </a:solidFill>
                <a:latin typeface="Aptos"/>
              </a:rPr>
              <a:t>0.036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3328416"/>
            <a:ext cx="16002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72033"/>
                </a:solidFill>
                <a:latin typeface="Aptos"/>
              </a:rPr>
              <a:t>Buyer cash / other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328416"/>
            <a:ext cx="7498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1628"/>
                </a:solidFill>
                <a:latin typeface="Aptos"/>
              </a:rPr>
              <a:t>6.7962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92824" y="3831336"/>
            <a:ext cx="4709160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01968" y="3950208"/>
            <a:ext cx="20116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B1628"/>
                </a:solidFill>
                <a:latin typeface="Aptos"/>
              </a:rPr>
              <a:t>TOTAL 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950208"/>
            <a:ext cx="63093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16.436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3950208"/>
            <a:ext cx="11887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628"/>
                </a:solidFill>
                <a:latin typeface="Aptos"/>
              </a:rPr>
              <a:t>TOTAL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3950208"/>
            <a:ext cx="74980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628"/>
                </a:solidFill>
                <a:latin typeface="Aptos"/>
              </a:rPr>
              <a:t>16.436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92824" y="4407408"/>
            <a:ext cx="4709160" cy="384048"/>
          </a:xfrm>
          <a:prstGeom prst="roundRect">
            <a:avLst/>
          </a:prstGeom>
          <a:solidFill>
            <a:srgbClr val="E4F4F2"/>
          </a:solidFill>
          <a:ln w="10160">
            <a:solidFill>
              <a:srgbClr val="E4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1696" y="4498848"/>
            <a:ext cx="4434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8A86"/>
                </a:solidFill>
                <a:latin typeface="Aptos"/>
              </a:rPr>
              <a:t>Sources less uses = $0.000bn  ✓ balanced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5166360"/>
            <a:ext cx="2633472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" y="5166360"/>
            <a:ext cx="64008" cy="6858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" y="5230368"/>
            <a:ext cx="226771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DEBT-FUNDED SHARE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19" y="5394960"/>
            <a:ext cx="226771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628"/>
                </a:solidFill>
                <a:latin typeface="Aptos"/>
              </a:rPr>
              <a:t>55.0%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" y="5715000"/>
            <a:ext cx="226771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F6B7A"/>
                </a:solidFill>
                <a:latin typeface="Aptos"/>
              </a:rPr>
              <a:t>Of total transaction uses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5166360"/>
            <a:ext cx="2633472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46120" y="5166360"/>
            <a:ext cx="64008" cy="685800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47288" y="5230368"/>
            <a:ext cx="226771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NEW DEBT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7288" y="5394960"/>
            <a:ext cx="226771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628"/>
                </a:solidFill>
                <a:latin typeface="Aptos"/>
              </a:rPr>
              <a:t>$9.04bn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7288" y="5715000"/>
            <a:ext cx="226771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F6B7A"/>
                </a:solidFill>
                <a:latin typeface="Aptos"/>
              </a:rPr>
              <a:t>At 6.5% pre-tax cost of debt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61888" y="5166360"/>
            <a:ext cx="2633472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61888" y="5166360"/>
            <a:ext cx="64008" cy="685800"/>
          </a:xfrm>
          <a:prstGeom prst="rect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63055" y="5230368"/>
            <a:ext cx="226771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STOCK ISSUED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3055" y="5394960"/>
            <a:ext cx="226771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628"/>
                </a:solidFill>
                <a:latin typeface="Aptos"/>
              </a:rPr>
              <a:t>0.040bn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3055" y="5715000"/>
            <a:ext cx="226771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F6B7A"/>
                </a:solidFill>
                <a:latin typeface="Aptos"/>
              </a:rPr>
              <a:t>Shares, at $15 assumed price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77656" y="5166360"/>
            <a:ext cx="2953512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77656" y="5166360"/>
            <a:ext cx="64008" cy="6858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78824" y="5230368"/>
            <a:ext cx="258775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F6B7A"/>
                </a:solidFill>
                <a:latin typeface="Aptos"/>
              </a:rPr>
              <a:t>DEBT RETAINED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78824" y="5394960"/>
            <a:ext cx="25877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628"/>
                </a:solidFill>
                <a:latin typeface="Aptos"/>
              </a:rPr>
              <a:t>$28.0bn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78824" y="5715000"/>
            <a:ext cx="258775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F6B7A"/>
                </a:solidFill>
                <a:latin typeface="Aptos"/>
              </a:rPr>
              <a:t>Alongside $14bn refinanced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Transaction and Assumptions worksheets. Retained target debt is separately accounted for in model check; it is not a cash use at close.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10 / EPS ACCRETION &amp; DILUTION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The simplified Year 1 case worsens EPS by $2.20 per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Because standalone acquirer EPS is negative, the percentage accretion/dilution measure is not meaningful (n.m.).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11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72768"/>
            <a:ext cx="2606040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572768"/>
            <a:ext cx="64008" cy="1133856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682495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ACQUIRER STANDALONE 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1929384"/>
            <a:ext cx="2240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628"/>
                </a:solidFill>
                <a:latin typeface="Aptos"/>
              </a:rPr>
              <a:t>-$0.57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414016"/>
            <a:ext cx="22402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2025A fictional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572768"/>
            <a:ext cx="2606040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572768"/>
            <a:ext cx="64008" cy="1133856"/>
          </a:xfrm>
          <a:prstGeom prst="rect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682495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PRO FORMA 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929384"/>
            <a:ext cx="2240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628"/>
                </a:solidFill>
                <a:latin typeface="Aptos"/>
              </a:rPr>
              <a:t>-$2.77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414016"/>
            <a:ext cx="22402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After Year 1 costs and interest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1572768"/>
            <a:ext cx="2606040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61888" y="1572768"/>
            <a:ext cx="64008" cy="1133856"/>
          </a:xfrm>
          <a:prstGeom prst="rect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1682495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EPS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5" y="1929384"/>
            <a:ext cx="2240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628"/>
                </a:solidFill>
                <a:latin typeface="Aptos"/>
              </a:rPr>
              <a:t>-$2.20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5" y="2414016"/>
            <a:ext cx="22402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Per share vs standalone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77656" y="1572768"/>
            <a:ext cx="2953512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77656" y="1572768"/>
            <a:ext cx="64008" cy="1133856"/>
          </a:xfrm>
          <a:prstGeom prst="rect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78824" y="1682495"/>
            <a:ext cx="25877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6B7A"/>
                </a:solidFill>
                <a:latin typeface="Aptos"/>
              </a:rPr>
              <a:t>ACCRETION / DILUTION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1929384"/>
            <a:ext cx="258775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628"/>
                </a:solidFill>
                <a:latin typeface="Aptos"/>
              </a:rPr>
              <a:t>n.m.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2414016"/>
            <a:ext cx="258775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F6B7A"/>
                </a:solidFill>
                <a:latin typeface="Aptos"/>
              </a:rPr>
              <a:t>Negative standalone EPS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2944368"/>
            <a:ext cx="6675120" cy="2551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163824"/>
            <a:ext cx="6172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B1628"/>
                </a:solidFill>
                <a:latin typeface="Aptos"/>
              </a:rPr>
              <a:t>YEAR 1 EARNINGS BRIDGE ($bn)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3575304"/>
            <a:ext cx="3931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72033"/>
                </a:solidFill>
                <a:latin typeface="Aptos"/>
              </a:rPr>
              <a:t>Acquirer net income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575304"/>
            <a:ext cx="1645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C85555"/>
                </a:solidFill>
                <a:latin typeface="Aptos"/>
              </a:rPr>
              <a:t>-0.400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4672" y="3849624"/>
            <a:ext cx="5870448" cy="0"/>
          </a:xfrm>
          <a:prstGeom prst="line">
            <a:avLst/>
          </a:prstGeom>
          <a:ln w="6985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4672" y="3950208"/>
            <a:ext cx="3931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72033"/>
                </a:solidFill>
                <a:latin typeface="Aptos"/>
              </a:rPr>
              <a:t>Target net 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950208"/>
            <a:ext cx="1645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C85555"/>
                </a:solidFill>
                <a:latin typeface="Aptos"/>
              </a:rPr>
              <a:t>-1.000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4672" y="4224528"/>
            <a:ext cx="5870448" cy="0"/>
          </a:xfrm>
          <a:prstGeom prst="line">
            <a:avLst/>
          </a:prstGeom>
          <a:ln w="6985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4672" y="4325112"/>
            <a:ext cx="3931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72033"/>
                </a:solidFill>
                <a:latin typeface="Aptos"/>
              </a:rPr>
              <a:t>After-tax deal benefits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325112"/>
            <a:ext cx="1645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C85555"/>
                </a:solidFill>
                <a:latin typeface="Aptos"/>
              </a:rPr>
              <a:t>-0.544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04672" y="4599432"/>
            <a:ext cx="5870448" cy="0"/>
          </a:xfrm>
          <a:prstGeom prst="line">
            <a:avLst/>
          </a:prstGeom>
          <a:ln w="6985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4672" y="4700016"/>
            <a:ext cx="3931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72033"/>
                </a:solidFill>
                <a:latin typeface="Aptos"/>
              </a:rPr>
              <a:t>Incremental after-tax interest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700016"/>
            <a:ext cx="1645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C85555"/>
                </a:solidFill>
                <a:latin typeface="Aptos"/>
              </a:rPr>
              <a:t>-0.105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4672" y="4974336"/>
            <a:ext cx="5870448" cy="0"/>
          </a:xfrm>
          <a:prstGeom prst="line">
            <a:avLst/>
          </a:prstGeom>
          <a:ln w="6985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04672" y="5074920"/>
            <a:ext cx="3931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172033"/>
                </a:solidFill>
                <a:latin typeface="Aptos"/>
              </a:rPr>
              <a:t>Pro forma net income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5074920"/>
            <a:ext cx="16459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C85555"/>
                </a:solidFill>
                <a:latin typeface="Aptos"/>
              </a:rPr>
              <a:t>-2.049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52360" y="2944368"/>
            <a:ext cx="4178808" cy="255117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9248" y="3163824"/>
            <a:ext cx="3703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B1628"/>
                </a:solidFill>
                <a:latin typeface="Aptos"/>
              </a:rPr>
              <a:t>WHAT DRIVES YEAR 1</a:t>
            </a:r>
          </a:p>
        </p:txBody>
      </p:sp>
      <p:sp>
        <p:nvSpPr>
          <p:cNvPr id="47" name="Oval 46"/>
          <p:cNvSpPr/>
          <p:nvPr/>
        </p:nvSpPr>
        <p:spPr>
          <a:xfrm>
            <a:off x="7708392" y="3648456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2127" y="3557016"/>
            <a:ext cx="34838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033"/>
                </a:solidFill>
                <a:latin typeface="Aptos"/>
              </a:rPr>
              <a:t>Gross synergies realized: $0.525bn</a:t>
            </a:r>
          </a:p>
        </p:txBody>
      </p:sp>
      <p:sp>
        <p:nvSpPr>
          <p:cNvPr id="49" name="Oval 48"/>
          <p:cNvSpPr/>
          <p:nvPr/>
        </p:nvSpPr>
        <p:spPr>
          <a:xfrm>
            <a:off x="7708392" y="3995928"/>
            <a:ext cx="82296" cy="82296"/>
          </a:xfrm>
          <a:prstGeom prst="ellipse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82127" y="3904488"/>
            <a:ext cx="34838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033"/>
                </a:solidFill>
                <a:latin typeface="Aptos"/>
              </a:rPr>
              <a:t>Dis-synergies: −$0.25bn</a:t>
            </a:r>
          </a:p>
        </p:txBody>
      </p:sp>
      <p:sp>
        <p:nvSpPr>
          <p:cNvPr id="51" name="Oval 50"/>
          <p:cNvSpPr/>
          <p:nvPr/>
        </p:nvSpPr>
        <p:spPr>
          <a:xfrm>
            <a:off x="7708392" y="4343400"/>
            <a:ext cx="82296" cy="82296"/>
          </a:xfrm>
          <a:prstGeom prst="ellipse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4251960"/>
            <a:ext cx="34838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033"/>
                </a:solidFill>
                <a:latin typeface="Aptos"/>
              </a:rPr>
              <a:t>One-time integration: −$1.00bn</a:t>
            </a:r>
          </a:p>
        </p:txBody>
      </p:sp>
      <p:sp>
        <p:nvSpPr>
          <p:cNvPr id="53" name="Oval 52"/>
          <p:cNvSpPr/>
          <p:nvPr/>
        </p:nvSpPr>
        <p:spPr>
          <a:xfrm>
            <a:off x="7708392" y="4690872"/>
            <a:ext cx="82296" cy="82296"/>
          </a:xfrm>
          <a:prstGeom prst="ellipse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82127" y="4599432"/>
            <a:ext cx="34838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033"/>
                </a:solidFill>
                <a:latin typeface="Aptos"/>
              </a:rPr>
              <a:t>After-tax incremental interest: $0.105bn</a:t>
            </a:r>
          </a:p>
        </p:txBody>
      </p:sp>
      <p:sp>
        <p:nvSpPr>
          <p:cNvPr id="55" name="Oval 54"/>
          <p:cNvSpPr/>
          <p:nvPr/>
        </p:nvSpPr>
        <p:spPr>
          <a:xfrm>
            <a:off x="7708392" y="5038344"/>
            <a:ext cx="82296" cy="82296"/>
          </a:xfrm>
          <a:prstGeom prst="ellipse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82127" y="4946904"/>
            <a:ext cx="348386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033"/>
                </a:solidFill>
                <a:latin typeface="Aptos"/>
              </a:rPr>
              <a:t>EPS ex integration: -$1.75 (change -$1.18)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0352" y="5669280"/>
            <a:ext cx="11100816" cy="393192"/>
          </a:xfrm>
          <a:prstGeom prst="roundRect">
            <a:avLst/>
          </a:prstGeom>
          <a:solidFill>
            <a:srgbClr val="FCECEC"/>
          </a:solidFill>
          <a:ln w="10160">
            <a:solidFill>
              <a:srgbClr val="F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8952" y="5760720"/>
            <a:ext cx="1063447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C85555"/>
                </a:solidFill>
                <a:latin typeface="Aptos"/>
              </a:rPr>
              <a:t>EPS impact is not the same as value creation. The bridge omits purchase accounting, content amortization step-ups, debt amortization, tax attributes and share-price movements.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Accretion-Dilution worksheet. $2.20 per-share decline reflects the model’s negative starting earnings and simplified transaction costs.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11 /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The DCF is most sensitive to WACC and perpetual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Both sensitivity tables are taken directly from the corrected workbook’s Sensitivity worksheet.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12 / 13</a:t>
            </a:r>
          </a:p>
        </p:txBody>
      </p:sp>
      <p:pic>
        <p:nvPicPr>
          <p:cNvPr id="9" name="Picture 8" descr="sensitivity_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623560" cy="3794760"/>
          </a:xfrm>
          <a:prstGeom prst="rect">
            <a:avLst/>
          </a:prstGeom>
        </p:spPr>
      </p:pic>
      <p:pic>
        <p:nvPicPr>
          <p:cNvPr id="10" name="Picture 9" descr="sensitivity_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417320"/>
            <a:ext cx="562356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0352" y="5394960"/>
            <a:ext cx="11100816" cy="502920"/>
          </a:xfrm>
          <a:prstGeom prst="roundRect">
            <a:avLst/>
          </a:prstGeom>
          <a:solidFill>
            <a:srgbClr val="FAF1E1"/>
          </a:solidFill>
          <a:ln w="10160">
            <a:solidFill>
              <a:srgbClr val="F0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5522976"/>
            <a:ext cx="106344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628"/>
                </a:solidFill>
                <a:latin typeface="Aptos"/>
              </a:rPr>
              <a:t>At WACC 9.0% / growth 2.5%, workbook DCF EV is $81.85bn; at WACC 9.5% / growth 2.5%, it falls to $75.97bn. Higher debt funding worsens the modelled EPS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254496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Source: Sensitivity worksheet. EPS sensitivity is dollars per share; percentage accretion/dilution is not meaningful with negative standalone 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8A86"/>
                </a:solidFill>
                <a:latin typeface="Aptos"/>
              </a:rPr>
              <a:t>12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628"/>
                </a:solidFill>
                <a:latin typeface="Aptos"/>
              </a:rPr>
              <a:t>Strategic upside is clear; execution and model risk remain high.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33271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ptos"/>
              </a:rPr>
              <a:t>The current spreadsheet is a strong educational scaffold; a live deal recommendation would need fully sourced inputs.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47104"/>
            <a:ext cx="111831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5F6B7A"/>
                </a:solidFill>
                <a:latin typeface="Aptos"/>
              </a:rPr>
              <a:t>ILLUSTRATIVE MODEL  •  USD BILLIONS UNLESS NOTED  •  NOT ACTUAL PARAMOUNT / WBD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F6B7A"/>
                </a:solidFill>
                <a:latin typeface="Aptos"/>
              </a:rPr>
              <a:t>13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581912"/>
            <a:ext cx="557784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19656"/>
            <a:ext cx="501091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B1628"/>
                </a:solidFill>
                <a:latin typeface="Aptos"/>
              </a:rPr>
              <a:t>INVESTMENT-COMMITTEE TAKEAWAYS</a:t>
            </a:r>
          </a:p>
        </p:txBody>
      </p:sp>
      <p:sp>
        <p:nvSpPr>
          <p:cNvPr id="11" name="Oval 10"/>
          <p:cNvSpPr/>
          <p:nvPr/>
        </p:nvSpPr>
        <p:spPr>
          <a:xfrm>
            <a:off x="813816" y="2331720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240280"/>
            <a:ext cx="4791455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DCF EV of $80.45bn is 24.1% above the $64.8bn comps cross-check.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" y="2807208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15768"/>
            <a:ext cx="4791455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73.4% of DCF EV comes from terminal value, so WACC and growth assumptions deserve scrutiny.</a:t>
            </a:r>
          </a:p>
        </p:txBody>
      </p:sp>
      <p:sp>
        <p:nvSpPr>
          <p:cNvPr id="15" name="Oval 14"/>
          <p:cNvSpPr/>
          <p:nvPr/>
        </p:nvSpPr>
        <p:spPr>
          <a:xfrm>
            <a:off x="813816" y="3282696"/>
            <a:ext cx="82296" cy="82296"/>
          </a:xfrm>
          <a:prstGeom prst="ellipse">
            <a:avLst/>
          </a:prstGeom>
          <a:solidFill>
            <a:srgbClr val="D7A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191256"/>
            <a:ext cx="4791455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Target equity value of $2.0bn is fragile against $42bn of fictional target net debt.</a:t>
            </a:r>
          </a:p>
        </p:txBody>
      </p:sp>
      <p:sp>
        <p:nvSpPr>
          <p:cNvPr id="17" name="Oval 16"/>
          <p:cNvSpPr/>
          <p:nvPr/>
        </p:nvSpPr>
        <p:spPr>
          <a:xfrm>
            <a:off x="813816" y="3758183"/>
            <a:ext cx="82296" cy="82296"/>
          </a:xfrm>
          <a:prstGeom prst="ellipse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666744"/>
            <a:ext cx="4791455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Year 1 EPS worsens by $2.20/share; synergy delivery does not immediately offset deal costs.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" y="4233672"/>
            <a:ext cx="82296" cy="82296"/>
          </a:xfrm>
          <a:prstGeom prst="ellipse">
            <a:avLst/>
          </a:prstGeom>
          <a:solidFill>
            <a:srgbClr val="C8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142232"/>
            <a:ext cx="4791455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Do not treat the illustrative transaction EV of $44.4bn as a valuation of the actual Paramount–WBD deal.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1581912"/>
            <a:ext cx="5285232" cy="34290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1819656"/>
            <a:ext cx="475488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B1628"/>
                </a:solidFill>
                <a:latin typeface="Aptos"/>
              </a:rPr>
              <a:t>KEY DILIGENCE PRIORITIES</a:t>
            </a:r>
          </a:p>
        </p:txBody>
      </p:sp>
      <p:sp>
        <p:nvSpPr>
          <p:cNvPr id="23" name="Oval 22"/>
          <p:cNvSpPr/>
          <p:nvPr/>
        </p:nvSpPr>
        <p:spPr>
          <a:xfrm>
            <a:off x="6620256" y="2331720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2240280"/>
            <a:ext cx="450799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Replace fictional historicals with filed financial statements and debt schedules.</a:t>
            </a:r>
          </a:p>
        </p:txBody>
      </p:sp>
      <p:sp>
        <p:nvSpPr>
          <p:cNvPr id="25" name="Oval 24"/>
          <p:cNvSpPr/>
          <p:nvPr/>
        </p:nvSpPr>
        <p:spPr>
          <a:xfrm>
            <a:off x="6620256" y="2807208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2715768"/>
            <a:ext cx="450799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Source risk-free rate, ERP, beta, capital structure, peer set and market multiples as of a fixed date.</a:t>
            </a:r>
          </a:p>
        </p:txBody>
      </p:sp>
      <p:sp>
        <p:nvSpPr>
          <p:cNvPr id="27" name="Oval 26"/>
          <p:cNvSpPr/>
          <p:nvPr/>
        </p:nvSpPr>
        <p:spPr>
          <a:xfrm>
            <a:off x="6620256" y="3282696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3191256"/>
            <a:ext cx="450799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Model content cash spend separately from PP&amp;E capex; refine working capital and tax schedules.</a:t>
            </a:r>
          </a:p>
        </p:txBody>
      </p:sp>
      <p:sp>
        <p:nvSpPr>
          <p:cNvPr id="29" name="Oval 28"/>
          <p:cNvSpPr/>
          <p:nvPr/>
        </p:nvSpPr>
        <p:spPr>
          <a:xfrm>
            <a:off x="6620256" y="3758183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3666744"/>
            <a:ext cx="450799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Build debt paydown, purchase accounting, synergy timing and integration costs by workstream.</a:t>
            </a:r>
          </a:p>
        </p:txBody>
      </p:sp>
      <p:sp>
        <p:nvSpPr>
          <p:cNvPr id="31" name="Oval 30"/>
          <p:cNvSpPr/>
          <p:nvPr/>
        </p:nvSpPr>
        <p:spPr>
          <a:xfrm>
            <a:off x="6620256" y="4233672"/>
            <a:ext cx="82296" cy="82296"/>
          </a:xfrm>
          <a:prstGeom prst="ellipse">
            <a:avLst/>
          </a:prstGeom>
          <a:solidFill>
            <a:srgbClr val="0E8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3992" y="4142232"/>
            <a:ext cx="450799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72033"/>
                </a:solidFill>
                <a:latin typeface="Aptos"/>
              </a:rPr>
              <a:t>Reconcile equity value, enterprise value, total debt and transaction financing against signed documents.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5239512"/>
            <a:ext cx="11100816" cy="768096"/>
          </a:xfrm>
          <a:prstGeom prst="roundRect">
            <a:avLst/>
          </a:prstGeom>
          <a:solidFill>
            <a:srgbClr val="F9FAFC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5358384"/>
            <a:ext cx="1068019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E8A86"/>
                </a:solidFill>
                <a:latin typeface="Aptos"/>
              </a:rPr>
              <a:t>PUBLIC FACT SOURCES  •  Retrieved 27 Oct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559552"/>
            <a:ext cx="10680192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F6B7A"/>
                </a:solidFill>
                <a:latin typeface="Aptos"/>
              </a:rPr>
              <a:t>Paramount closing release (6 Oct 2026): ir.paramount.com/news-releases/news-release-details/paramount-completes-acquisition-warner-bros-discovery-creating  |  Paramount signing announcement (27 Feb 2026): paramount.gcs-web.com/news-releases/news-release-details/paramount-acquire-warner-bros-discovery-form-next-generation  |  UK CMA: gov.uk/cma-cases/paramount-slash-warner-bros-discovery-merger-inquiry  |  $110bn headline value: cbsnews.com/news/paramount-warner-bros-discovery-deal-skydance/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236208"/>
            <a:ext cx="11064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1">
                <a:solidFill>
                  <a:srgbClr val="5F6B7A"/>
                </a:solidFill>
                <a:latin typeface="Aptos"/>
              </a:rPr>
              <a:t>Analysis uses the workbook as the numerical source for hypothetical model outputs; public facts are only context, not model inputs.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M&amp;A Valuation &amp; Deal Analysis — Media Industry Acquisition Case</dc:title>
  <dc:subject>Integrated DCF, WACC, comps, transaction financing, EPS accretion/dilution and sensitivity analysis</dc:subject>
  <dc:creator>Anumula Deepak Maruthi</dc:creator>
  <cp:keywords>M&amp;A, Valuation, DCF, WACC, Comps, Excel, Python, Investment Banking</cp:keywords>
  <dc:description>Financial model values sourced from corrected workbook; model assumptions clearly labelled hypothetical.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